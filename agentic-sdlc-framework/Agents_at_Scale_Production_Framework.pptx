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tension: AI agents can build in hours what took weeks — yet most organizations can't ship them. This deck explains why and what to do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how many POCs are running in your sandbox right now? How many shipped last year? The gap is the problem this framework solves.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framework overview. Each pillar gets its own slide. Emphasize that these are not sequential steps — they are simultaneous foundations. An agent without any one of these is not production-ready.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RAPID framework in practice. The key insight: when agents perform the work, RACI breaks down because Responsible = agent. RAPID separates decision authority from execution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insight here: this is a composable stack, not a single platform. LangGraph for orchestration, LangSmith for eval + observability, E2B/Modal for sandboxed execution, Arize for production drift monitoring. Most orgs try to find one tool that does all four — and that's why they stall. Each layer has a distinct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'how it actually works' slide. Walk through each row — note that shadow mode is where most companies stall, and the transition from canary to production is where your TPM governance role is most critical.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Tooling options: LangSmith for LangChain-based agents, Arize for ML model monitoring, custom dashboards for anything proprietary. The specific tool matters less than having all six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your real experience lands. You ran GDPR regional programs and HIPAA Readiness at Twilio Flex. These aren't theoretical checkboxes — you've worked these gates in a real enterprise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your positioning slide. The AI Delivery Lead doesn't just manage timelines — they orchestrate the human-agent collaboration model across the entire SDLC. That's a new role that didn't exist 3 years 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claim these as universal guarantees — frame them as directional outcomes from programs with mature governance. The 3x velocity number comes from eliminating handoff latency, not from agents writing perfect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90-day frame is intentional — it's short enough to get exec buy-in and long enough to do it properly. Agent #1 always takes longer than you think. The value is the repeatable model it creates for agents #2 through #20.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this. The 5 pillars aren't about the technology — Claude, GPT, or whatever comes next. They are about the delivery model that gets any agent safely and reliably into production. That's what you bring.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AI DELIVERY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at Scale: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8D8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POC to Production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80% of AI agents never leave the sandbox — and the 5-pillar framework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gets them to production safely, compliantly, and at enterprise scale.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206240"/>
            <a:ext cx="7772400" cy="0"/>
          </a:xfrm>
          <a:prstGeom prst="line">
            <a:avLst/>
          </a:prstGeom>
          <a:noFill/>
          <a:ln w="12700">
            <a:solidFill>
              <a:srgbClr val="0F7C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Venkatesh Subramanyam  ·  AI Delivery Lead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POC Graveyard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enterprises have more AI sandboxes than production agents.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0876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896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AI POCs never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production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63240" y="13258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72968" y="14356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14173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02152" y="141732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eval framework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72968" y="1783080"/>
            <a:ext cx="1627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Can't prove the agent is good enough to ship — no pass/fail criteria.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74920" y="13258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184648" y="14356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4173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13832" y="141732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legal blockers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84648" y="1783080"/>
            <a:ext cx="1627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audit trail, PII exposure risk, or compliance sign-off path.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86600" y="132588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96328" y="143560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96328" y="141732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25512" y="141732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Brittle prompts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96328" y="1783080"/>
            <a:ext cx="1627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prompts break on edge cases that only appear in production traffic.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063240" y="28346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29443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72968" y="292608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02152" y="292608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ownership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172968" y="3291840"/>
            <a:ext cx="1627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Falls between Engineering and Data Science — nobody is accountable.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074920" y="2834640"/>
            <a:ext cx="1828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84648" y="294436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4648" y="2926080"/>
            <a:ext cx="256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3832" y="2926080"/>
            <a:ext cx="1298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Ungoverned shadow AI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84648" y="3291840"/>
            <a:ext cx="162763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Engineers adopt tools without oversight. The CTO discovers it during an incident.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Pillars of Production-Ready Agents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pillar must be in place. Missing one is why agents stay in the sandbox.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1572768" cy="3200400"/>
          </a:xfrm>
          <a:prstGeom prst="roundRect">
            <a:avLst>
              <a:gd name="adj" fmla="val 6977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5087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A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2084832"/>
            <a:ext cx="1024128" cy="0"/>
          </a:xfrm>
          <a:prstGeom prst="line">
            <a:avLst/>
          </a:prstGeom>
          <a:noFill/>
          <a:ln w="12700">
            <a:solidFill>
              <a:srgbClr val="0F7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9456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70048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decide. Agents execute. Always.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93976" y="1371600"/>
            <a:ext cx="1572768" cy="3200400"/>
          </a:xfrm>
          <a:prstGeom prst="roundRect">
            <a:avLst>
              <a:gd name="adj" fmla="val 6977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15087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A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368296" y="2084832"/>
            <a:ext cx="1024128" cy="0"/>
          </a:xfrm>
          <a:prstGeom prst="line">
            <a:avLst/>
          </a:prstGeom>
          <a:noFill/>
          <a:ln w="12700">
            <a:solidFill>
              <a:srgbClr val="0F7C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85416" y="219456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Model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85416" y="2670048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→ Canary → Production. No skipping.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76472" y="1371600"/>
            <a:ext cx="1572768" cy="3200400"/>
          </a:xfrm>
          <a:prstGeom prst="roundRect">
            <a:avLst>
              <a:gd name="adj" fmla="val 6977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6472" y="15087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A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050792" y="2084832"/>
            <a:ext cx="1024128" cy="0"/>
          </a:xfrm>
          <a:prstGeom prst="line">
            <a:avLst/>
          </a:prstGeom>
          <a:noFill/>
          <a:ln w="12700">
            <a:solidFill>
              <a:srgbClr val="0F7C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67912" y="219456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67912" y="2670048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Logs, metrics, cost, drift — from day 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58968" y="1371600"/>
            <a:ext cx="1572768" cy="3200400"/>
          </a:xfrm>
          <a:prstGeom prst="roundRect">
            <a:avLst>
              <a:gd name="adj" fmla="val 6977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8968" y="15087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A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733288" y="2084832"/>
            <a:ext cx="1024128" cy="0"/>
          </a:xfrm>
          <a:prstGeom prst="line">
            <a:avLst/>
          </a:prstGeom>
          <a:noFill/>
          <a:ln w="12700">
            <a:solidFill>
              <a:srgbClr val="0F7C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0408" y="219456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50408" y="2670048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GDPR, HIPAA, EU AI Act built in, not bolted on.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41464" y="1371600"/>
            <a:ext cx="1572768" cy="3200400"/>
          </a:xfrm>
          <a:prstGeom prst="roundRect">
            <a:avLst>
              <a:gd name="adj" fmla="val 6977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41464" y="1508760"/>
            <a:ext cx="15727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A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7415784" y="2084832"/>
            <a:ext cx="1024128" cy="0"/>
          </a:xfrm>
          <a:prstGeom prst="line">
            <a:avLst/>
          </a:prstGeom>
          <a:noFill/>
          <a:ln w="12700">
            <a:solidFill>
              <a:srgbClr val="0F7C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32904" y="2194560"/>
            <a:ext cx="13898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Layer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32904" y="2670048"/>
            <a:ext cx="13898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 as agent orchestrator across the full SDLC.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Governance: Humans Decide, Agents Execute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38988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rule that makes agentic AI safe at any speed: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6420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hold Perform &amp; Recommend — never Decide, Approve, or Gate.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— DECIDE &amp; DIRECT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3749040" cy="365760"/>
          </a:xfrm>
          <a:prstGeom prst="roundRect">
            <a:avLst>
              <a:gd name="adj" fmla="val 17500"/>
            </a:avLst>
          </a:prstGeom>
          <a:solidFill>
            <a:srgbClr val="EBF5F3"/>
          </a:solidFill>
          <a:ln w="6350">
            <a:solidFill>
              <a:srgbClr val="C5E3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5877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58775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&amp; product vision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80944"/>
            <a:ext cx="3749040" cy="365760"/>
          </a:xfrm>
          <a:prstGeom prst="roundRect">
            <a:avLst>
              <a:gd name="adj" fmla="val 17500"/>
            </a:avLst>
          </a:prstGeom>
          <a:solidFill>
            <a:srgbClr val="EBF5F3"/>
          </a:solidFill>
          <a:ln w="6350">
            <a:solidFill>
              <a:srgbClr val="C5E3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02666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54480" y="3026664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orchestration &amp; gate decisions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3749040" cy="365760"/>
          </a:xfrm>
          <a:prstGeom prst="roundRect">
            <a:avLst>
              <a:gd name="adj" fmla="val 17500"/>
            </a:avLst>
          </a:prstGeom>
          <a:solidFill>
            <a:srgbClr val="EBF5F3"/>
          </a:solidFill>
          <a:ln w="6350">
            <a:solidFill>
              <a:srgbClr val="C5E3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46557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554480" y="3465576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quality &amp; delivery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858768"/>
            <a:ext cx="3749040" cy="365760"/>
          </a:xfrm>
          <a:prstGeom prst="roundRect">
            <a:avLst>
              <a:gd name="adj" fmla="val 17500"/>
            </a:avLst>
          </a:prstGeom>
          <a:solidFill>
            <a:srgbClr val="EBF5F3"/>
          </a:solidFill>
          <a:ln w="6350">
            <a:solidFill>
              <a:srgbClr val="C5E3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044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Arch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554480" y="3904488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governance &amp; architecture sign-off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3749040" cy="365760"/>
          </a:xfrm>
          <a:prstGeom prst="roundRect">
            <a:avLst>
              <a:gd name="adj" fmla="val 17500"/>
            </a:avLst>
          </a:prstGeom>
          <a:solidFill>
            <a:srgbClr val="EBF5F3"/>
          </a:solidFill>
          <a:ln w="6350">
            <a:solidFill>
              <a:srgbClr val="C5E3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43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CDO/Gov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554480" y="434340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Data, compliance &amp; regulatory gates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9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— PERFORM &amp; RECOMMEND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542032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FDF6E8"/>
          </a:solidFill>
          <a:ln w="6350">
            <a:solidFill>
              <a:srgbClr val="F5DF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587752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Agent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5877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synthesis, architecture options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2980944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FDF6E8"/>
          </a:solidFill>
          <a:ln w="6350">
            <a:solidFill>
              <a:srgbClr val="F5D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3026664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Agent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3026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and iterates on code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0" y="3419856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FDF6E8"/>
          </a:solidFill>
          <a:ln w="6350">
            <a:solidFill>
              <a:srgbClr val="F5D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46557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Agent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72200" y="34655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regression, coverage, QA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0" y="3858768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FDF6E8"/>
          </a:solidFill>
          <a:ln w="6350">
            <a:solidFill>
              <a:srgbClr val="F5DFA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904488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Agent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72200" y="39044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pipeline execution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0" y="4297680"/>
            <a:ext cx="4114800" cy="365760"/>
          </a:xfrm>
          <a:prstGeom prst="roundRect">
            <a:avLst>
              <a:gd name="adj" fmla="val 17500"/>
            </a:avLst>
          </a:prstGeom>
          <a:solidFill>
            <a:srgbClr val="FDF6E8"/>
          </a:solidFill>
          <a:ln w="6350">
            <a:solidFill>
              <a:srgbClr val="F5DFA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434340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Agent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Metrics, drift, anomaly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Deploy-at-Scale Toolchain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tool layers. Each covers a distinct problem. Missing any one is why production deployments fail.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325880" cy="749808"/>
          </a:xfrm>
          <a:prstGeom prst="roundRect">
            <a:avLst>
              <a:gd name="adj" fmla="val 12195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91056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&amp;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847088" y="16459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agent logic, state, tool calls &amp; human-in-loop interrupts.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13632" y="160020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05072" y="16459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005072" y="187452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191109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 workflows, checkpoint/resume, graph-based orchestration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32704" y="160020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24144" y="16459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CrewAI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724144" y="187452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24144" y="191109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role-based orchestration — fast to prototype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351776" y="160020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3216" y="16459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Agents SDK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443216" y="187452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43216" y="191109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Lightweight, provider-agnostic, 100+ LLM support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377440"/>
            <a:ext cx="8321040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2423160"/>
            <a:ext cx="1325880" cy="749808"/>
          </a:xfrm>
          <a:prstGeom prst="roundRect">
            <a:avLst>
              <a:gd name="adj" fmla="val 12195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59736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&amp;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847088" y="25146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Pass/fail test harness before any real traffic. The sandbox exit gate.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13632" y="246888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05072" y="251460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005072" y="274320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05072" y="277977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Tracing, evals, A/B prompt testing — HIPAA/SOC2/GDPR compliant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632704" y="246888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24144" y="251460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724144" y="274320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24144" y="277977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experiment tracking, model versioning, prompt mgmt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351776" y="246888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43216" y="251460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6D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Langfuse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443216" y="274320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43216" y="277977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Self-hosted, ClickHouse-native — strong for data-sovereignty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246120"/>
            <a:ext cx="8321040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291840"/>
            <a:ext cx="1325880" cy="749808"/>
          </a:xfrm>
          <a:prstGeom prst="roundRect">
            <a:avLst>
              <a:gd name="adj" fmla="val 12195"/>
            </a:avLst>
          </a:prstGeom>
          <a:solidFill>
            <a:srgbClr val="12A090"/>
          </a:solidFill>
          <a:ln w="12700">
            <a:solidFill>
              <a:srgbClr val="12A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28416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847088" y="33832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→ canary → prod. Isolated execution, compliance controls.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913632" y="333756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05072" y="338328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Deploy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005072" y="361188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05072" y="364845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stateful agent hosting (formerly LangGraph Platform)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632704" y="333756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24144" y="338328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/ Azure AI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24144" y="361188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24144" y="364845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hosting with IAM, VPC, and compliance built in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351776" y="333756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443216" y="338328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E2B / Modal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443216" y="361188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43216" y="364845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Sandboxed code execution — Firecracker microVM isolation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65760" y="4114800"/>
            <a:ext cx="8321040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65760" y="4160520"/>
            <a:ext cx="1325880" cy="749808"/>
          </a:xfrm>
          <a:prstGeom prst="roundRect">
            <a:avLst>
              <a:gd name="adj" fmla="val 12195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197096"/>
            <a:ext cx="132588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&amp;</a:t>
            </a:r>
            <a:endParaRPr lang="en-US" sz="8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847088" y="425196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signals: drift, cost, escalation rate. Feeds back to retraining.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913632" y="420624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05072" y="425196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9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005072" y="448056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05072" y="451713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 detection, bias audits — purpose-built for regulated industries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632704" y="420624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24144" y="425196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9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OpenShell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724144" y="448056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724144" y="451713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OS-level policy governance for agent actions via declarative YAML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351776" y="420624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43216" y="425196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9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 (prod)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443216" y="4480560"/>
            <a:ext cx="1389888" cy="0"/>
          </a:xfrm>
          <a:prstGeom prst="line">
            <a:avLst/>
          </a:prstGeom>
          <a:noFill/>
          <a:ln w="6350">
            <a:solidFill>
              <a:srgbClr val="2A3F6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443216" y="4517136"/>
            <a:ext cx="138988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cost, P95 latency, error rates, escalation rate dashboard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6400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Deploying AI Agents at Scale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· Activities · Who ·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47472" y="96012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664208" y="96012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ACTIVITIES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246120" y="960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36592" y="9601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20840" y="96012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OUTPUT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47472" y="1197864"/>
            <a:ext cx="8476488" cy="0"/>
          </a:xfrm>
          <a:prstGeom prst="line">
            <a:avLst/>
          </a:prstGeom>
          <a:noFill/>
          <a:ln w="12700">
            <a:solidFill>
              <a:srgbClr val="1E30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298448"/>
            <a:ext cx="8476488" cy="71323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389888"/>
            <a:ext cx="1115568" cy="502920"/>
          </a:xfrm>
          <a:prstGeom prst="roundRect">
            <a:avLst>
              <a:gd name="adj" fmla="val 14545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389888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" y="1645920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64208" y="1353312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Define use case &amp; success metrics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Build agent logic &amp; tool integrations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Test internally with synthetic data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246120" y="1499616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46120" y="1499616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3721608" y="1499616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21608" y="1499616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4736592" y="1371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LangGraph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36592" y="1554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CrewAI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736592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E2B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20840" y="1389888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D1830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426464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v0.1 ready for eval harness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7472" y="2029968"/>
            <a:ext cx="8476488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2066544"/>
            <a:ext cx="847648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2157984"/>
            <a:ext cx="1115568" cy="502920"/>
          </a:xfrm>
          <a:prstGeom prst="roundRect">
            <a:avLst>
              <a:gd name="adj" fmla="val 14545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157984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" y="2414016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664208" y="2121408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Build 50+ test cases with expected outputs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Run automated pass/fail scoring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Identify top-10 failure modes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3246120" y="2267712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267712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3721608" y="2267712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21608" y="2267712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4197096" y="2267712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97096" y="2267712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736592" y="213969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LangSmith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36592" y="232257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MLflow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36592" y="25054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Langfuse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720840" y="2157984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D1830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12280" y="2194560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scorecard — gate to shadow mode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47472" y="2798064"/>
            <a:ext cx="8476488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7472" y="2834640"/>
            <a:ext cx="8476488" cy="71323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2926080"/>
            <a:ext cx="1115568" cy="502920"/>
          </a:xfrm>
          <a:prstGeom prst="roundRect">
            <a:avLst>
              <a:gd name="adj" fmla="val 14545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2926080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384048" y="3182112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664208" y="2889504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Run agent in parallel with humans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Log all outputs — none acted on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Review divergence from human decisions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3246120" y="3035808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46120" y="3035808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</a:t>
            </a:r>
            <a:endParaRPr lang="en-US" sz="650" dirty="0"/>
          </a:p>
        </p:txBody>
      </p:sp>
      <p:sp>
        <p:nvSpPr>
          <p:cNvPr id="49" name="Shape 47"/>
          <p:cNvSpPr/>
          <p:nvPr/>
        </p:nvSpPr>
        <p:spPr>
          <a:xfrm>
            <a:off x="3721608" y="3035808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12A090"/>
          </a:solidFill>
          <a:ln w="12700">
            <a:solidFill>
              <a:srgbClr val="12A09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21608" y="3035808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4197096" y="3035808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97096" y="3035808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CDO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736592" y="29077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LangSmith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4736592" y="3090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Arize AI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736592" y="32735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Custom logs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720840" y="2926080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D1830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812280" y="2962656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Real-traffic failure library + compliance sign-off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347472" y="3566160"/>
            <a:ext cx="8476488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47472" y="3602736"/>
            <a:ext cx="8476488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84048" y="3694176"/>
            <a:ext cx="1115568" cy="502920"/>
          </a:xfrm>
          <a:prstGeom prst="roundRect">
            <a:avLst>
              <a:gd name="adj" fmla="val 14545"/>
            </a:avLst>
          </a:prstGeom>
          <a:solidFill>
            <a:srgbClr val="12A090"/>
          </a:solidFill>
          <a:ln w="12700">
            <a:solidFill>
              <a:srgbClr val="12A0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84048" y="3694176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384048" y="3950208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664208" y="3657600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Route 5–10% of real traffic to agent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Human review queue for failures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Circuit breaker on threshold breach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3246120" y="3803904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46120" y="3803904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3721608" y="3803904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721608" y="3803904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4197096" y="3803904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12A090"/>
          </a:solidFill>
          <a:ln w="12700">
            <a:solidFill>
              <a:srgbClr val="12A09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97096" y="3803904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650" dirty="0"/>
          </a:p>
        </p:txBody>
      </p:sp>
      <p:sp>
        <p:nvSpPr>
          <p:cNvPr id="70" name="Text 68"/>
          <p:cNvSpPr/>
          <p:nvPr/>
        </p:nvSpPr>
        <p:spPr>
          <a:xfrm>
            <a:off x="4736592" y="36758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AWS Bedrock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36592" y="3858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Azure AI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736592" y="4041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LangSmith Deploy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720840" y="3694176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D1830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812280" y="3730752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 + rollback plan validated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47472" y="4334256"/>
            <a:ext cx="8476488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7472" y="4370832"/>
            <a:ext cx="8476488" cy="713232"/>
          </a:xfrm>
          <a:prstGeom prst="rect">
            <a:avLst/>
          </a:prstGeom>
          <a:solidFill>
            <a:srgbClr val="0D1830"/>
          </a:solidFill>
          <a:ln w="12700">
            <a:solidFill>
              <a:srgbClr val="0D183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84048" y="4462272"/>
            <a:ext cx="1115568" cy="502920"/>
          </a:xfrm>
          <a:prstGeom prst="roundRect">
            <a:avLst>
              <a:gd name="adj" fmla="val 14545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84048" y="4462272"/>
            <a:ext cx="11155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79" name="Text 77"/>
          <p:cNvSpPr/>
          <p:nvPr/>
        </p:nvSpPr>
        <p:spPr>
          <a:xfrm>
            <a:off x="384048" y="4718304"/>
            <a:ext cx="11155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664208" y="4425696"/>
            <a:ext cx="14630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Full traffic with feedback loops active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Monitor drift, cost, escalation rate</a:t>
            </a:r>
            <a:endParaRPr lang="en-US" sz="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7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Iterate prompts → feed to retraining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246120" y="4572000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46120" y="4572000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TPM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3721608" y="4572000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21608" y="4572000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MLOps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4197096" y="4572000"/>
            <a:ext cx="420624" cy="201168"/>
          </a:xfrm>
          <a:prstGeom prst="roundRect">
            <a:avLst>
              <a:gd name="adj" fmla="val 2272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197096" y="4572000"/>
            <a:ext cx="42062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CDO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4736592" y="444398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Arize AI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736592" y="46268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NVIDIA OpenShell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4736592" y="48097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LangSmith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720840" y="4462272"/>
            <a:ext cx="2011680" cy="502920"/>
          </a:xfrm>
          <a:prstGeom prst="roundRect">
            <a:avLst>
              <a:gd name="adj" fmla="val 12727"/>
            </a:avLst>
          </a:prstGeom>
          <a:solidFill>
            <a:srgbClr val="0D1830"/>
          </a:solidFill>
          <a:ln w="6350">
            <a:solidFill>
              <a:srgbClr val="1E306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12280" y="4498848"/>
            <a:ext cx="18288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SLA-governed agent in steady-state ops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347472" y="5102352"/>
            <a:ext cx="8476488" cy="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627632" y="960120"/>
            <a:ext cx="0" cy="416052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944368" y="960120"/>
            <a:ext cx="0" cy="416052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572000" y="960120"/>
            <a:ext cx="0" cy="416052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601968" y="960120"/>
            <a:ext cx="0" cy="4160520"/>
          </a:xfrm>
          <a:prstGeom prst="line">
            <a:avLst/>
          </a:prstGeom>
          <a:noFill/>
          <a:ln w="6350">
            <a:solidFill>
              <a:srgbClr val="1E306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Observability: You Can't Fix What You Can't See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agents without observability are flying blind. When something goes wrong — and it will — you need to know exactly why.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865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/ Output Logging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" y="2194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prompt, every response, every tool call logged. Not sampling — everything. Storage is cheap; blind spots are not.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56432" y="1865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Cost Tracking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56432" y="2194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agent action, per user, per workflow. Without this, a single runaway agent can consume a month's budget overnight.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91072" y="186537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&amp; Failure Rates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91072" y="219456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P50/P95/P99 latency. Timeout rates. Tool call failures. These are your SLAs — you need baselines before you can hold them.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198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Drift Detection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1792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outputs shift as underlying models are updated. Monitor output distributions over time, not just at launch.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2918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34198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Escalation Rate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56432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of agent actions routed to a human. Rising rate = agent confidence degrading. Falling rate = trust building. Track both.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329184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91072" y="341985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Loop Capture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3749040"/>
            <a:ext cx="2286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Thumbs down, corrections, escalations — all feed back into prompt tuning and fine-tuning. Without this, quality degrades.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as Infrastructure, Not an Afterthought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regulated industry has specific gate requirements. Build them into the SDLC from Stage 0 — not as a final review.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E8F4FB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8013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/ CCPA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130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impact assessment at Stage 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23865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minimisation review at Stage 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" y="26426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Right-to-deletion capability at Stage 8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898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6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 management verified before training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0600" y="169164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E6F5F3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65192" y="18013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65192" y="21305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 data classification at Stage 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65192" y="23865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De-identification verified before training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65192" y="26426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IRB-style review before model deployment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65192" y="289864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 mandatory at Stages 8 &amp; 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3ECF9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21792" y="34930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(High-risk)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" y="38221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Conformity assessment at Stage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40782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oversight mechanism by Stage 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1792" y="43342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rights impact assessment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1792" y="45902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4E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Post-market surveillance plan at Stage 9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383280"/>
            <a:ext cx="4114800" cy="1508760"/>
          </a:xfrm>
          <a:prstGeom prst="roundRect">
            <a:avLst>
              <a:gd name="adj" fmla="val 6061"/>
            </a:avLst>
          </a:prstGeom>
          <a:solidFill>
            <a:srgbClr val="FDF3E0"/>
          </a:solidFill>
          <a:ln w="635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65192" y="349300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SOX / BCBS (Financial)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65192" y="382219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risk management sign-off at Stage 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65192" y="407822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report required before Stage 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965192" y="433425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 11-7 model validation compliance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65192" y="4590288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1A2B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Ongoing bias monitoring at Stage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PILLAR 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Delivery Layer: TPM as Agent Orchestrator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61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Orchestrating agents IS program management at scale. The TPM role doesn't disappear — it becomes more critical.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0" y="1828800"/>
            <a:ext cx="2194560" cy="1188720"/>
          </a:xfrm>
          <a:prstGeom prst="roundRect">
            <a:avLst>
              <a:gd name="adj" fmla="val 11538"/>
            </a:avLst>
          </a:prstGeom>
          <a:solidFill>
            <a:srgbClr val="0F7C6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0" y="19202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TPM /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Delivery Lead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01368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decisions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escalations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546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264408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dependency mgmt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0" y="169164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801368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pipeline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315468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0" y="3264408"/>
            <a:ext cx="17373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co-ordination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0" y="2148840"/>
            <a:ext cx="1188720" cy="0"/>
          </a:xfrm>
          <a:prstGeom prst="line">
            <a:avLst/>
          </a:prstGeom>
          <a:noFill/>
          <a:ln w="12700">
            <a:solidFill>
              <a:srgbClr val="12A090"/>
            </a:solidFill>
            <a:prstDash val="dashDot"/>
          </a:ln>
        </p:spPr>
      </p:sp>
      <p:sp>
        <p:nvSpPr>
          <p:cNvPr id="17" name="Shape 15"/>
          <p:cNvSpPr/>
          <p:nvPr/>
        </p:nvSpPr>
        <p:spPr>
          <a:xfrm>
            <a:off x="2286000" y="3611880"/>
            <a:ext cx="1188720" cy="0"/>
          </a:xfrm>
          <a:prstGeom prst="line">
            <a:avLst/>
          </a:prstGeom>
          <a:noFill/>
          <a:ln w="12700">
            <a:solidFill>
              <a:srgbClr val="12A090"/>
            </a:solidFill>
            <a:prstDash val="dashDot"/>
          </a:ln>
        </p:spPr>
      </p:sp>
      <p:sp>
        <p:nvSpPr>
          <p:cNvPr id="18" name="Shape 16"/>
          <p:cNvSpPr/>
          <p:nvPr/>
        </p:nvSpPr>
        <p:spPr>
          <a:xfrm>
            <a:off x="5577840" y="2148840"/>
            <a:ext cx="1280160" cy="0"/>
          </a:xfrm>
          <a:prstGeom prst="line">
            <a:avLst/>
          </a:prstGeom>
          <a:noFill/>
          <a:ln w="12700">
            <a:solidFill>
              <a:srgbClr val="12A090"/>
            </a:solidFill>
            <a:prstDash val="dashDot"/>
          </a:ln>
        </p:spPr>
      </p:sp>
      <p:sp>
        <p:nvSpPr>
          <p:cNvPr id="19" name="Shape 17"/>
          <p:cNvSpPr/>
          <p:nvPr/>
        </p:nvSpPr>
        <p:spPr>
          <a:xfrm>
            <a:off x="5577840" y="3611880"/>
            <a:ext cx="1280160" cy="0"/>
          </a:xfrm>
          <a:prstGeom prst="line">
            <a:avLst/>
          </a:prstGeom>
          <a:noFill/>
          <a:ln w="12700">
            <a:solidFill>
              <a:srgbClr val="12A090"/>
            </a:solidFill>
            <a:prstDash val="dashDot"/>
          </a:ln>
        </p:spPr>
      </p:sp>
      <p:sp>
        <p:nvSpPr>
          <p:cNvPr id="20" name="Shape 18"/>
          <p:cNvSpPr/>
          <p:nvPr/>
        </p:nvSpPr>
        <p:spPr>
          <a:xfrm>
            <a:off x="457200" y="4526280"/>
            <a:ext cx="8229600" cy="384048"/>
          </a:xfrm>
          <a:prstGeom prst="roundRect">
            <a:avLst>
              <a:gd name="adj" fmla="val 19048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590288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Delivery Lead is the connective tissue between agents, engineers, compliance, and the business — at every gate, across the full SDLC.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'At Scale' Actually Looks Like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Organizations that get all 5 pillars right report consistent outcomes across programs.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920240" cy="2560320"/>
          </a:xfrm>
          <a:prstGeom prst="roundRect">
            <a:avLst>
              <a:gd name="adj" fmla="val 6667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3×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1520" y="2395728"/>
            <a:ext cx="13716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delivery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871216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test &amp; deploy cycles compressed from weeks to days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2888" y="1371600"/>
            <a:ext cx="1920240" cy="2560320"/>
          </a:xfrm>
          <a:prstGeom prst="roundRect">
            <a:avLst>
              <a:gd name="adj" fmla="val 6667"/>
            </a:avLst>
          </a:prstGeom>
          <a:solidFill>
            <a:srgbClr val="0F7C6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32888" y="1554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4600" dirty="0"/>
          </a:p>
        </p:txBody>
      </p:sp>
      <p:sp>
        <p:nvSpPr>
          <p:cNvPr id="11" name="Shape 9"/>
          <p:cNvSpPr/>
          <p:nvPr/>
        </p:nvSpPr>
        <p:spPr>
          <a:xfrm>
            <a:off x="2807208" y="2395728"/>
            <a:ext cx="13716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4328" y="2871216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handle execution. Senior engineers focus on architecture &amp; judgment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08576" y="1371600"/>
            <a:ext cx="1920240" cy="2560320"/>
          </a:xfrm>
          <a:prstGeom prst="roundRect">
            <a:avLst>
              <a:gd name="adj" fmla="val 6667"/>
            </a:avLst>
          </a:prstGeom>
          <a:solidFill>
            <a:srgbClr val="0F5F9E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08576" y="1554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4600" dirty="0"/>
          </a:p>
        </p:txBody>
      </p:sp>
      <p:sp>
        <p:nvSpPr>
          <p:cNvPr id="16" name="Shape 14"/>
          <p:cNvSpPr/>
          <p:nvPr/>
        </p:nvSpPr>
        <p:spPr>
          <a:xfrm>
            <a:off x="4882896" y="2395728"/>
            <a:ext cx="13716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0016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incidents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0016" y="2871216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monitoring catches issues before they reach users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84264" y="1371600"/>
            <a:ext cx="1920240" cy="2560320"/>
          </a:xfrm>
          <a:prstGeom prst="roundRect">
            <a:avLst>
              <a:gd name="adj" fmla="val 6667"/>
            </a:avLst>
          </a:prstGeom>
          <a:solidFill>
            <a:srgbClr val="5A3A8A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84264" y="1554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2–6</a:t>
            </a:r>
            <a:endParaRPr lang="en-US" sz="4600" dirty="0"/>
          </a:p>
        </p:txBody>
      </p:sp>
      <p:sp>
        <p:nvSpPr>
          <p:cNvPr id="21" name="Shape 19"/>
          <p:cNvSpPr/>
          <p:nvPr/>
        </p:nvSpPr>
        <p:spPr>
          <a:xfrm>
            <a:off x="6958584" y="2395728"/>
            <a:ext cx="1371600" cy="0"/>
          </a:xfrm>
          <a:prstGeom prst="line">
            <a:avLst/>
          </a:prstGeom>
          <a:noFill/>
          <a:ln w="635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248716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release cycles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75704" y="2871216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6–18 months with traditional SDLC and manual governance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 observed across enterprise AI programs applying all 5 pillars with mature governance. Results vary by org maturity and program scope.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90-Day Launch Playbook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phases. One production agent. A repeatable model for every agent that follows.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1463040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76072" y="14630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61288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1–30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76072" y="2084832"/>
            <a:ext cx="2359152" cy="0"/>
          </a:xfrm>
          <a:prstGeom prst="line">
            <a:avLst/>
          </a:prstGeom>
          <a:noFill/>
          <a:ln w="9525">
            <a:solidFill>
              <a:srgbClr val="0F7C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1762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one high-value, low-risk use case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Appoint TPM / AI Delivery Lead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" y="323697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up evaluation harness with 50+ test cases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76072" y="3767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compliance gate criteria (GDPR/HIPAA if applicable)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" y="42976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0F7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in shadow mode — log everything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32588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56432" y="1463040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12A090"/>
          </a:solidFill>
          <a:ln w="12700">
            <a:solidFill>
              <a:srgbClr val="12A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56432" y="14630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41648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31–60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56432" y="2084832"/>
            <a:ext cx="2359152" cy="0"/>
          </a:xfrm>
          <a:prstGeom prst="line">
            <a:avLst/>
          </a:prstGeom>
          <a:noFill/>
          <a:ln w="9525">
            <a:solidFill>
              <a:srgbClr val="12A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1762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shadow mode logs — identify top failure modes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56432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Iterate prompts and tool configurations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56432" y="323697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compliance gates with CDO/Gov sign-off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56432" y="3767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canary at 5–10% real traffic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56432" y="42976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2A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escalation paths and on-call runbook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72200" y="1325880"/>
            <a:ext cx="2697480" cy="3520440"/>
          </a:xfrm>
          <a:prstGeom prst="roundRect">
            <a:avLst>
              <a:gd name="adj" fmla="val 4068"/>
            </a:avLst>
          </a:prstGeom>
          <a:solidFill>
            <a:srgbClr val="1A2B52"/>
          </a:solidFill>
          <a:ln w="6350">
            <a:solidFill>
              <a:srgbClr val="2A3F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36792" y="1463040"/>
            <a:ext cx="502920" cy="365760"/>
          </a:xfrm>
          <a:prstGeom prst="roundRect">
            <a:avLst>
              <a:gd name="adj" fmla="val 17500"/>
            </a:avLst>
          </a:prstGeom>
          <a:solidFill>
            <a:srgbClr val="E8961A"/>
          </a:solidFill>
          <a:ln w="12700">
            <a:solidFill>
              <a:srgbClr val="E8961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36792" y="146304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22008" y="14630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61–90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36792" y="2084832"/>
            <a:ext cx="2359152" cy="0"/>
          </a:xfrm>
          <a:prstGeom prst="line">
            <a:avLst/>
          </a:prstGeom>
          <a:noFill/>
          <a:ln w="9525">
            <a:solidFill>
              <a:srgbClr val="E896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2176272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89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Ramp to full production traffic with circuit breakers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36792" y="2706624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89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feedback loop capture (corrections, escalations)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36792" y="3236976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89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vs. baseline: velocity, cost, incident 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36792" y="3767328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89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the model — it's your template for agent #2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36792" y="4297680"/>
            <a:ext cx="2377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E896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C8D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90-day results to executive stakeholders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F7C6E"/>
          </a:solidFill>
          <a:ln w="12700">
            <a:solidFill>
              <a:srgbClr val="0F7C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 between POC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production is a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problem.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60604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2A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technology problem.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310128"/>
            <a:ext cx="7772400" cy="0"/>
          </a:xfrm>
          <a:prstGeom prst="line">
            <a:avLst/>
          </a:prstGeom>
          <a:noFill/>
          <a:ln w="12700">
            <a:solidFill>
              <a:srgbClr val="0F7C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564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9DB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 ·  Gate Model  ·  Observability  ·  Compliance  ·  Delivery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Venkatesh Subramanyam  ·  csvenky@gmail.com  ·  (408) 368-1427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at Scale: From POC to Production</dc:title>
  <dc:subject>PptxGenJS Presentation</dc:subject>
  <dc:creator>PptxGenJS</dc:creator>
  <cp:lastModifiedBy>PptxGenJS</cp:lastModifiedBy>
  <cp:revision>1</cp:revision>
  <dcterms:created xsi:type="dcterms:W3CDTF">2026-06-10T07:01:46Z</dcterms:created>
  <dcterms:modified xsi:type="dcterms:W3CDTF">2026-06-10T07:01:46Z</dcterms:modified>
</cp:coreProperties>
</file>