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SDLC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Roles · Stage Gates · Data Governance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Ideation to Launch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Agentic SDLC?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development lifecycle where AI agents actively participate in — and automate — key stages of development.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SDLC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does everything — plan, code, test, deploy, monitor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12848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042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SDLC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perform execution; humans direct, decide &amp; govern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8412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54096"/>
            <a:ext cx="64008" cy="7498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455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 moves from doing → directing &amp; approving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8412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95344"/>
            <a:ext cx="64008" cy="7498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867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TPM opportunity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79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Orchestrating agents IS program management at scale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10 Stages — Ideation to Launch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572768" cy="1645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33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1691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66544" y="868680"/>
            <a:ext cx="157276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033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66544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39312" y="1691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868680"/>
            <a:ext cx="157276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033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67328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0096" y="1691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8112" y="868680"/>
            <a:ext cx="1572768" cy="1645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033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68112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691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868680"/>
            <a:ext cx="1572768" cy="1645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10332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68896" y="155448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1572768" cy="1645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53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38528" y="361188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66544" y="2788920"/>
            <a:ext cx="1572768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66544" y="2953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066544" y="347472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39312" y="361188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67328" y="2788920"/>
            <a:ext cx="1572768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2953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767328" y="347472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40096" y="361188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68112" y="2788920"/>
            <a:ext cx="1572768" cy="1645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2953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468112" y="347472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361188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68896" y="2788920"/>
            <a:ext cx="1572768" cy="1645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68896" y="2953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7168896" y="347472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Stages 4–5 apply to ML/data-intensive projects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34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Roles Framework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— Decision Framework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RACI, RAPID separates decision authority from execution — critical when AI agents perform the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02920" cy="5303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5361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the decision with supporting analysis. In agentic SDLC, Planning and Code Agents often hold this role — they surface options for humans to decide 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502920" cy="5303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552" y="20025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2402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approve before work proceeds. Multiple people can hold this — a veto requires resolution. CDO/Gov holds Agree on data-sensitive stages.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502920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883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552" y="27066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29443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actual work. In agentic SDLC, AI agents (Code Agent, Test Agent, Deploy Agent) typically hold Perform. They execute — they do not decide.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5029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924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87552" y="3410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364845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information or expertise that informs the decision. Engineers, UX, and Data teams often hold Input without being in the critical decision path.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502920" cy="5303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9651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7552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435254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authority. Only one person can hold D per decision. Agents NEVER hold Decide — humans retain all final authority in an agentic system.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Matrix — Stages 0 to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11887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98448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33372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3372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368296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903220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3220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38144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973068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3068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07992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42916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2916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577840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112764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2764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647688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182612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82612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717536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7536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252460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2460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03620" y="749808"/>
            <a:ext cx="0" cy="45720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1225296"/>
            <a:ext cx="1188720" cy="685800"/>
          </a:xfrm>
          <a:prstGeom prst="rect">
            <a:avLst/>
          </a:prstGeom>
          <a:solidFill>
            <a:srgbClr val="FEF9E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1225296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Roadmap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389888" y="1426464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9888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24812" y="1426464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4812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59736" y="1426464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9736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94660" y="1426464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4660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29584" y="1426464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9584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64508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64508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99432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9432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34356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4356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9280" y="1426464"/>
            <a:ext cx="347472" cy="25603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0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04204" y="1426464"/>
            <a:ext cx="347472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04204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739128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39128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74052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74052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808976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08976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343900" y="1426464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43900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2880" y="1947672"/>
            <a:ext cx="118872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1168" y="1947672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UX &amp; Design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389888" y="2148840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89888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924812" y="2148840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24812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459736" y="2148840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59736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994660" y="2148840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94660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529584" y="2148840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29584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064508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64508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599432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99432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134356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34356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669280" y="2148840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69280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04204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04204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739128" y="2148840"/>
            <a:ext cx="347472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39128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274052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274052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808976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08976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343900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43900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82880" y="2670048"/>
            <a:ext cx="118872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1168" y="2670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Requirements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1389888" y="2871216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389888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924812" y="2871216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924812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459736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59736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994660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994660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529584" y="2871216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529584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064508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64508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599432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599432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134356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134356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669280" y="2871216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69280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6204204" y="2871216"/>
            <a:ext cx="347472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04204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6739128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739128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7274052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74052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808976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808976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343900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343900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182880" y="3392424"/>
            <a:ext cx="118872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01168" y="3392424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Architecture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1389888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389888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1924812" y="3593592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924812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2459736" y="3593592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459736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2994660" y="3593592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994660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3529584" y="3593592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529584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4064508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064508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4599432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599432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5134356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134356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669280" y="3593592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669280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6204204" y="3593592"/>
            <a:ext cx="347472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204204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6739128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739128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7274052" y="3593592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274052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7808976" y="3593592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808976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8343900" y="3593592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343900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182880" y="4114800"/>
            <a:ext cx="1188720" cy="685800"/>
          </a:xfrm>
          <a:prstGeom prst="rect">
            <a:avLst/>
          </a:prstGeom>
          <a:solidFill>
            <a:srgbClr val="EDFBF4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01168" y="4114800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Pipeline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1389888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389888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1924812" y="4315968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924812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459736" y="4315968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459736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2994660" y="4315968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994660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3529584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529584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4064508" y="4315968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064508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4599432" y="4315968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599432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5134356" y="4315968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134356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5669280" y="4315968"/>
            <a:ext cx="347472" cy="25603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669280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6204204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204204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6739128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739128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7274052" y="4315968"/>
            <a:ext cx="347472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274052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7808976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808976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8343900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343900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85" name="Text 183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columns = AI Agent roles  ·  G = Hard governance gate (CDO/Gov must clear before proceeding)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Matrix — Stages 5 to 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11887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98448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33372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3372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368296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903220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3220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38144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973068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3068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07992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42916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2916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577840" y="749808"/>
            <a:ext cx="516636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112764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2764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647688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182612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82612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717536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7536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252460" y="749808"/>
            <a:ext cx="516636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2460" y="74980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03620" y="749808"/>
            <a:ext cx="0" cy="45720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1225296"/>
            <a:ext cx="1188720" cy="685800"/>
          </a:xfrm>
          <a:prstGeom prst="rect">
            <a:avLst/>
          </a:prstGeom>
          <a:solidFill>
            <a:srgbClr val="EDFBF4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1225296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ML Training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389888" y="1426464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89888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24812" y="1426464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4812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59736" y="1426464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9736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94660" y="1426464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4660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29584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9584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64508" y="1426464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64508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99432" y="1426464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9432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34356" y="1426464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4356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9280" y="1426464"/>
            <a:ext cx="347472" cy="25603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0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04204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04204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739128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39128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74052" y="1426464"/>
            <a:ext cx="347472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74052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808976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08976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343900" y="1426464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43900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2880" y="1947672"/>
            <a:ext cx="118872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1168" y="1947672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Code Gen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389888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89888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924812" y="2148840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24812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459736" y="2148840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59736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994660" y="2148840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94660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529584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29584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064508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64508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599432" y="2148840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99432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134356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34356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669280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69280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04204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04204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739128" y="2148840"/>
            <a:ext cx="347472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39128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274052" y="2148840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274052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808976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08976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343900" y="2148840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43900" y="21488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82880" y="2670048"/>
            <a:ext cx="118872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1168" y="2670048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Testing &amp; QA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1389888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389888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924812" y="2871216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924812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459736" y="2871216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59736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994660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994660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529584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529584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064508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64508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599432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599432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134356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134356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669280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69280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6204204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04204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6739128" y="2871216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739128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7274052" y="2871216"/>
            <a:ext cx="347472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74052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808976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808976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343900" y="2871216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343900" y="28712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182880" y="3392424"/>
            <a:ext cx="1188720" cy="685800"/>
          </a:xfrm>
          <a:prstGeom prst="rect">
            <a:avLst/>
          </a:prstGeom>
          <a:solidFill>
            <a:srgbClr val="FEF2E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01168" y="3392424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Deployment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1389888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389888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1924812" y="3593592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924812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2459736" y="3593592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459736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2994660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994660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3529584" y="3593592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529584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4064508" y="3593592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064508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4599432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599432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5134356" y="3593592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134356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669280" y="3593592"/>
            <a:ext cx="347472" cy="25603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669280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6204204" y="3593592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204204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6739128" y="3593592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739128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7274052" y="3593592"/>
            <a:ext cx="347472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274052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7808976" y="3593592"/>
            <a:ext cx="347472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808976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8343900" y="3593592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343900" y="35935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182880" y="4114800"/>
            <a:ext cx="1188720" cy="685800"/>
          </a:xfrm>
          <a:prstGeom prst="rect">
            <a:avLst/>
          </a:prstGeom>
          <a:solidFill>
            <a:srgbClr val="FEF2E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01168" y="4114800"/>
            <a:ext cx="1152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Monitoring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1389888" y="4315968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389888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1924812" y="4315968"/>
            <a:ext cx="34747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924812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2459736" y="4315968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459736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2994660" y="4315968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994660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3529584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529584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4064508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064508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4599432" y="4315968"/>
            <a:ext cx="347472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599432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5134356" y="4315968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134356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5669280" y="4315968"/>
            <a:ext cx="34747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669280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6204204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204204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6739128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739128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7274052" y="4315968"/>
            <a:ext cx="347472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274052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7808976" y="4315968"/>
            <a:ext cx="347472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808976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8343900" y="4315968"/>
            <a:ext cx="347472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343900" y="43159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85" name="Text 183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holds Decide on Architecture, Deployment &amp; Monitoring — the cross-functional risk stages  ·  Agents never hold D or 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Governance — A Horizontal Layer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(CDO) is not a single stage — it cuts across 5 critical points as a hard Gate.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57200" cy="53035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0 — Roadmap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53619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regulations constrain what can be built. GDPR, CCPA, AI Act reviewed before commitment.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53035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9842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4 — Data Pipeline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handling, consent, data lineage, access controls. CDO must Gate before data flows to training.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57200" cy="53035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6700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5 — Model Training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0779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audits, fairness assessments, explainability. Critical in healthcare, finance, and HR tech.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" cy="53035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375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3558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8 — Deployment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59359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cards, audit trails, regulatory sign-off. No production deployment without CDO clearance.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457200" cy="53035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9 — Monitoring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27939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compliance monitoring, data drift, model fairness checks over time.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EF0F7"/>
          </a:solidFill>
          <a:ln w="6350">
            <a:solidFill>
              <a:srgbClr val="9935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Hard Gate — work cannot proceed without CDO/Governance clearance  ·  Unlike Agree, a Gate is non-negotiable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Regulated Industry Gates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CDO/Gov requirements by regulatory framework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07008"/>
            <a:ext cx="4114800" cy="3840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07008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(HIPAA)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389534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data classification at Stage 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IRB-style review before model deployment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mandatory at Stages 8 &amp; 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verified before training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" y="1700784"/>
            <a:ext cx="64008" cy="640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636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data classification at Stage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2002536"/>
            <a:ext cx="64008" cy="640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938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IRB-style review before model deployment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304288"/>
            <a:ext cx="64008" cy="640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mandatory at Stages 8 &amp; 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2606040"/>
            <a:ext cx="64008" cy="640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verified before training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207008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207008"/>
            <a:ext cx="4114800" cy="38404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07008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(SOX/BCBS)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1645920"/>
            <a:ext cx="389534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management sign-off at Stage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report required before Stage 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bias monitoring at Stage 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model validation compliance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73168" y="1700784"/>
            <a:ext cx="64008" cy="6400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636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management sign-off at Stage 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73168" y="2002536"/>
            <a:ext cx="64008" cy="6400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1938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report required before Stage 8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2304288"/>
            <a:ext cx="64008" cy="6400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bias monitoring at Stage 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73168" y="2606040"/>
            <a:ext cx="64008" cy="6400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model validation compliance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10896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108960"/>
            <a:ext cx="411480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108960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AI Act (High-risk)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" y="3547872"/>
            <a:ext cx="389534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 assessment at Stage 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mechanism by Stage 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 surveillance plan at Stage 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rights impact assessment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" y="3602736"/>
            <a:ext cx="64008" cy="6400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" y="3538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 assessment at Stage 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9768" y="3904488"/>
            <a:ext cx="64008" cy="6400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mechanism by Stage 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9768" y="4206240"/>
            <a:ext cx="64008" cy="6400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 surveillance plan at Stage 9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9768" y="4507992"/>
            <a:ext cx="64008" cy="6400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4443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rights impact assessment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108960"/>
            <a:ext cx="4114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108960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3108960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GDPR / CCPA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3168" y="3547872"/>
            <a:ext cx="389534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impact assessment at Stage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review at Stage 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Right-to-deletion capability at Stage 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management verified at Stage 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73168" y="3602736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3538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impact assessment at Stage 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73168" y="3904488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review at Stage 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73168" y="4206240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82896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Right-to-deletion capability at Stage 8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73168" y="4507992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82896" y="4443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management verified at Stage 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Gate Process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Gate Process —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formal gates from Ideation to Launch. Each gate has defined exit criteria, RAPID owners, and three outcomes.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2011680" cy="43891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&amp; 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decides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2048256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261872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261872"/>
            <a:ext cx="20116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2618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17647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Requirements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decides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2048256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261872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261872"/>
            <a:ext cx="201168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2618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9160" y="17647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decides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2048256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261872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261872"/>
            <a:ext cx="2011680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2618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17647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 Readiness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 decides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80944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980944"/>
            <a:ext cx="20116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809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1480" y="34838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Code Review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decides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31720" y="376732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2980944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2980944"/>
            <a:ext cx="20116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29809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560320" y="34838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Validation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decides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80560" y="376732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2980944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2980944"/>
            <a:ext cx="2011680" cy="4389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9809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709160" y="34838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Approval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decides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29400" y="376732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66560" y="2980944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2980944"/>
            <a:ext cx="2011680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29809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58000" y="34838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Post-launch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4096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decides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Gates — G0 &amp; G1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G0 — Ideation &amp;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roadmap commitment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64008" cy="6400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90472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validated with user 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64008" cy="6400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46504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 confirmed against company OKRs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64008" cy="6400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02536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tech &amp; data feasibility assessed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64008" cy="6400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58568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landscape reviewed by CDO/Gov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2596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owners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816352"/>
            <a:ext cx="10058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PM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280160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TPM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67712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7712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CDO/Gov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8600" y="3108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310128"/>
            <a:ext cx="4206240" cy="329184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 — synthesizes market signals, competitive data, strategic context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8600" y="37124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outcomes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931920"/>
            <a:ext cx="135636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roadmap inclusion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30680" y="3931920"/>
            <a:ext cx="135636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3068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3068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7640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more research/scoping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32760" y="3931920"/>
            <a:ext cx="135636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276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3276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7848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strategically viable — shelved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749808"/>
            <a:ext cx="42062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G1 — UX &amp; Requirements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architecture begins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1554480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1490472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completed, personas defined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1810512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1746504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prototypes reviewed and approved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2066544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2002536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 documented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322576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2258568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 and PII scope identified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09160" y="2596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owners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09160" y="2816352"/>
            <a:ext cx="10058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PM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760720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UX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48272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48272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TPM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735824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35824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CDO/Gov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09160" y="3108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3310128"/>
            <a:ext cx="4206240" cy="329184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Agent — generates wireframe variants and design options for human review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09160" y="37124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outcomes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09160" y="3931920"/>
            <a:ext cx="135636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0916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baselined, architecture begins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11240" y="3931920"/>
            <a:ext cx="135636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1124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11124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5696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UX or requirements gaps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513320" y="3931920"/>
            <a:ext cx="135636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1332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1332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5904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need not confirmed — pause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Gates — G2 &amp; G3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G2 —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development begins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64008" cy="6400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90472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reviewed and approved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64008" cy="6400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46504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finalized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64008" cy="6400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02536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 architecture signed off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64008" cy="6400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58568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risks logged with mitigations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2596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owners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816352"/>
            <a:ext cx="10058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TPM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280160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67712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7712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Tech Arch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55264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CDO/Gov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" y="3108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310128"/>
            <a:ext cx="4206240" cy="329184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 — proposes architecture options and flags risks for human review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28600" y="37124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outcomes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931920"/>
            <a:ext cx="135636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approved, dev begins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30680" y="3931920"/>
            <a:ext cx="135636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3068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3068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7640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components or address risks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032760" y="3931920"/>
            <a:ext cx="135636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3276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3276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7848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not established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749808"/>
            <a:ext cx="420624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 — Data &amp; ML Readiness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projects only — before training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1554480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1490472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validated end-to-end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181051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1746504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metrics meet defined thresholds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066544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2002536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 and consent compliance verified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2322576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2258568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assessment completed on training data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09160" y="2596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owners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816352"/>
            <a:ext cx="10058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Data Eng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760720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ML Eng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48272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48272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CDO/Gov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09160" y="3108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3310128"/>
            <a:ext cx="4206240" cy="329184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— performs ingestion, cleaning, profiling; surfaces quality issues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09160" y="37124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outcomes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09160" y="3931920"/>
            <a:ext cx="135636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0916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ready, model training begins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11240" y="3931920"/>
            <a:ext cx="135636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1124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11124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5696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quality or governance gaps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513320" y="3931920"/>
            <a:ext cx="135636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1332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1332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5904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insufficient or non-compliant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Gates — G4 &amp; G5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 — Build &amp; Code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QA and testing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64008" cy="640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90472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against acceptance criteria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64008" cy="640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46504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passed — Tech Arch sign-off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64008" cy="640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02536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 completed, critical findings resolved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64008" cy="640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58568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coverage meets threshold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2596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owners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816352"/>
            <a:ext cx="10058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EM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280160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Tech Arch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8600" y="3108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310128"/>
            <a:ext cx="4206240" cy="329184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Agent — writes and iterates code; Test Agent flags coverage gaps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37124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outcomes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931920"/>
            <a:ext cx="135636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approved, QA testing begins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30680" y="3931920"/>
            <a:ext cx="135636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3068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3068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7640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code review or coverage gaps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32760" y="3931920"/>
            <a:ext cx="135636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276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276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7848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architecture issues — redesign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749808"/>
            <a:ext cx="4206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G5 — QA &amp; Validation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deployment approval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1554480"/>
            <a:ext cx="64008" cy="640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1490472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and high severity bugs resolved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1810512"/>
            <a:ext cx="64008" cy="640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1746504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regression tests passed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66544"/>
            <a:ext cx="64008" cy="640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2002536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 met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2322576"/>
            <a:ext cx="64008" cy="640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2258568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 from PM and UX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2596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owners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2816352"/>
            <a:ext cx="10058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EM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760720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TPM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48272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48272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PM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735824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35824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UX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09160" y="3108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3310128"/>
            <a:ext cx="4206240" cy="329184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82312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 — runs full regression suite, surfaces failures and coverage gaps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709160" y="37124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outcomes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9160" y="3931920"/>
            <a:ext cx="135636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0916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passed, deployment approval begins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11240" y="3931920"/>
            <a:ext cx="135636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1124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1124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5696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outstanding bugs or perf issues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513320" y="3931920"/>
            <a:ext cx="135636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1332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51332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5904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 not met — return to build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Gates — G6 &amp; G7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502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G6 — Deployment Approval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production release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64008" cy="640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90472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plan documented and tested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64008" cy="640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46504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and on-call documentation complete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64008" cy="640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02536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CDO/Gov final compliance sign-off obtained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64008" cy="6400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58568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launch communication prepared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2596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owners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816352"/>
            <a:ext cx="10058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TPM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280160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67712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7712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MLOps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55264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CDO/Gov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8600" y="3108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310128"/>
            <a:ext cx="4206240" cy="329184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 — executes CI/CD pipeline; Monitor Agent confirms pre-launch health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28600" y="37124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outcomes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931920"/>
            <a:ext cx="135636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production deployment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30680" y="3931920"/>
            <a:ext cx="135636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3068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3068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7640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compliance or infra gaps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032760" y="3931920"/>
            <a:ext cx="135636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3276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3276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7848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or critical risk — do not deploy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749808"/>
            <a:ext cx="420624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G7 — Launch &amp; Post-Launch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post-launch review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criteria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1554480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1490472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success metrics tracking against targets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181051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1746504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 incidents in first 30 days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066544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2002536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within acceptable bounds (ML)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2322576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2258568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documented in repo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09160" y="2596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owners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2816352"/>
            <a:ext cx="10058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28163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TPM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760720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48272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48272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CDO/Gov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735824" y="2816352"/>
            <a:ext cx="9144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35824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MLOps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09160" y="31089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role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09160" y="3310128"/>
            <a:ext cx="4206240" cy="329184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82312" y="3310128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Agent — tracks metrics, flags drift and anomalies; Deploy Agent manages rollback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709160" y="37124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outcomes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09160" y="3931920"/>
            <a:ext cx="135636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0916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0916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healthy — move to steady-state ops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11240" y="3931920"/>
            <a:ext cx="1356360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1124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1124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5696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fixes or model retraining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513320" y="3931920"/>
            <a:ext cx="135636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13320" y="3931920"/>
            <a:ext cx="135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513320" y="4133088"/>
            <a:ext cx="1356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59040" y="4133088"/>
            <a:ext cx="1283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and root-cause investigation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Governance Principles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perform, humans decide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hold Perform and Recommend. They never hold Decide, Agree, or Gate. All final authority stays with humans.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64008" cy="1280160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Gates are non-negotiable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25272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(G) differs from Agree (A) — it is a hard stop. Work cannot proceed until CDO/Gov grants clearance. No exceptions.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64008" cy="128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774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TPM is the orchestration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holds Decide on Architecture, Deployment, and Monitoring — the three highest cross-functional risk stages.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86000"/>
            <a:ext cx="64008" cy="12801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774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governance is horizontal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67004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CDO/Gov is not a single stage — it appears as a Gate at Roadmap, Data Pipeline, Model Training, Deployment, and Monitoring.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64008" cy="12801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94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projects have two extra stages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08736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and Model Training are ML-specific. They require Data Eng, ML Eng, and MLOps roles not present in standard SDLC.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703320"/>
            <a:ext cx="4206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03320"/>
            <a:ext cx="64008" cy="12801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94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Post-launch is a formal gate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08736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 (30-day review) closes the loop. Success metrics, drift monitoring, and lessons learned are required before steady-state ops.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SDLC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· Stage Gates · Data Governance · ML Extension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4787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stages · Ideation to Launch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94106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77056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 gates with Go / Iterate / Stop outcomes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27024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human roles + 5 AI agent roles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9943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53542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industry compliance overlay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&amp; Stage Gate Framework</dc:title>
  <dc:subject>PptxGenJS Presentation</dc:subject>
  <dc:creator>PptxGenJS</dc:creator>
  <cp:lastModifiedBy>PptxGenJS</cp:lastModifiedBy>
  <cp:revision>1</cp:revision>
  <dcterms:created xsi:type="dcterms:W3CDTF">2026-04-30T19:44:11Z</dcterms:created>
  <dcterms:modified xsi:type="dcterms:W3CDTF">2026-04-30T19:44:11Z</dcterms:modified>
</cp:coreProperties>
</file>